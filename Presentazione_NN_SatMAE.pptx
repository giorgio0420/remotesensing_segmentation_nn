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8288000" cy="10287000"/>
  <p:notesSz cx="6858000" cy="9144000"/>
  <p:embeddedFontLst>
    <p:embeddedFont>
      <p:font typeface="Open Sans 1 Bold" charset="1" panose="020B0806030504020204"/>
      <p:regular r:id="rId42"/>
    </p:embeddedFont>
    <p:embeddedFont>
      <p:font typeface="Open Sans 1 Bold Italics" charset="1" panose="020B0806030504020204"/>
      <p:regular r:id="rId43"/>
    </p:embeddedFont>
    <p:embeddedFont>
      <p:font typeface="Open Sans 1" charset="1" panose="020B0606030504020204"/>
      <p:regular r:id="rId44"/>
    </p:embeddedFont>
    <p:embeddedFont>
      <p:font typeface="Open Sans 2" charset="1" panose="00000000000000000000"/>
      <p:regular r:id="rId45"/>
    </p:embeddedFont>
    <p:embeddedFont>
      <p:font typeface="Open Sans 1 Italics" charset="1" panose="020B060603050402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468880"/>
            <a:ext cx="1572768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5600" b="1" i="0">
                <a:solidFill>
                  <a:srgbClr val="FFFFFF"/>
                </a:solidFill>
                <a:latin typeface="Open Sans"/>
              </a:rPr>
              <a:t>Satellite Image Segmentation</a:t>
            </a:r>
          </a:p>
          <a:p>
            <a:pPr algn="l">
              <a:spcAft>
                <a:spcPts val="0"/>
              </a:spcAft>
              <a:buNone/>
            </a:pPr>
            <a:r>
              <a:rPr sz="5600" b="1" i="0">
                <a:solidFill>
                  <a:srgbClr val="FFFFFF"/>
                </a:solidFill>
                <a:latin typeface="Open Sans"/>
              </a:rPr>
              <a:t>with Pretrained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5120640"/>
            <a:ext cx="1463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0" i="0">
                <a:solidFill>
                  <a:srgbClr val="F0D8D8"/>
                </a:solidFill>
                <a:latin typeface="Open Sans"/>
              </a:rPr>
              <a:t>Pretraining on satellite imagery for data-scarce land-cover segmentation (LoveDA)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955279"/>
            <a:ext cx="11430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Neural Networks - A.Y. 2025/2026</a:t>
            </a:r>
          </a:p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F0D8D8"/>
                </a:solidFill>
                <a:latin typeface="Open Sans"/>
              </a:rPr>
              <a:t>Giorgio De Santis   -   </a:t>
            </a:r>
            <a:r>
              <a:rPr sz="1800" b="0" i="0">
                <a:solidFill>
                  <a:srgbClr val="F0D8D8"/>
                </a:solidFill>
                <a:latin typeface="Open Sans"/>
              </a:rPr>
              <a:t>[second group member]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9509760"/>
            <a:ext cx="15544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1">
                <a:solidFill>
                  <a:srgbClr val="D8B0B0"/>
                </a:solidFill>
                <a:latin typeface="Open Sans"/>
              </a:rPr>
              <a:t>References: SatMAE++ (Noman et al., CVPR 2024) - RSP (ViTAE) - SAM / SAMRS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Objective and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241280" cy="7772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Task: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high-resolution semantic land-cover segmentation with FEW labels (data-scarce).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Remote-sensing challenges: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1024x1024 images (fine GSD), strong class imbalance, scarce annotated labels.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Dataset: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LoveDA - 7 classes (building, road, water, barren, forest, agriculture, background), urban + rural scenes.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900" b="1" i="0">
                <a:solidFill>
                  <a:srgbClr val="6F0A19"/>
                </a:solidFill>
                <a:latin typeface="Open Sans"/>
              </a:rPr>
              <a:t>Central hypothesis: </a:t>
            </a:r>
            <a:r>
              <a:rPr sz="1900" b="0" i="0">
                <a:solidFill>
                  <a:srgbClr val="6F0A19"/>
                </a:solidFill>
                <a:latin typeface="Open Sans"/>
              </a:rPr>
              <a:t>satellite pretraining improves segmentation when labels are few. By how much vs a standard initialization?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2103120"/>
            <a:ext cx="5760720" cy="384048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0" y="2377440"/>
            <a:ext cx="5212080" cy="3291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The project question</a:t>
            </a:r>
          </a:p>
          <a:p>
            <a:pPr algn="l">
              <a:spcAft>
                <a:spcPts val="0"/>
              </a:spcAft>
              <a:buNone/>
            </a:pPr>
            <a:r>
              <a:rPr sz="2000" b="0" i="1">
                <a:solidFill>
                  <a:srgbClr val="222222"/>
                </a:solidFill>
                <a:latin typeface="Open Sans"/>
              </a:rPr>
              <a:t>"How much is satellite pretraining worth when you have 100-300 labeled images instead of thousands?"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Two transformers, two weight sets: why they don't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863840" cy="7772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Open Sans"/>
              </a:rPr>
              <a:t>SatMAE++ = ViT-L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700" b="0" i="0">
                <a:solidFill>
                  <a:srgbClr val="222222"/>
                </a:solidFill>
                <a:latin typeface="Open Sans"/>
              </a:rPr>
              <a:t>patch 16 - GLOBAL attention - isotropic (14x14, 1024-dim across all 24 layers)</a:t>
            </a:r>
          </a:p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Open Sans"/>
              </a:rPr>
              <a:t>RSP = Swin-T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700" b="0" i="0">
                <a:solidFill>
                  <a:srgbClr val="222222"/>
                </a:solidFill>
                <a:latin typeface="Open Sans"/>
              </a:rPr>
              <a:t>patch 4 - WINDOWED attention - hierarchical (56-&gt;7, channels 96-&gt;768)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700" b="1" i="0">
                <a:solidFill>
                  <a:srgbClr val="6F0A19"/>
                </a:solidFill>
                <a:latin typeface="Open Sans"/>
              </a:rPr>
              <a:t>Consequence: </a:t>
            </a:r>
            <a:r>
              <a:rPr sz="1700" b="0" i="0">
                <a:solidFill>
                  <a:srgbClr val="6F0A19"/>
                </a:solidFill>
                <a:latin typeface="Open Sans"/>
              </a:rPr>
              <a:t>ViT weights do NOT fit into a Swin - different shapes and operations at every level (patch embed, attention, downsampling).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1828800"/>
            <a:ext cx="8229600" cy="694944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2194560"/>
            <a:ext cx="7498079" cy="6400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900" b="1" i="0">
                <a:solidFill>
                  <a:srgbClr val="6F0A19"/>
                </a:solidFill>
                <a:latin typeface="Open Sans"/>
              </a:rPr>
              <a:t>The solution: two separate paths</a:t>
            </a:r>
          </a:p>
          <a:p>
            <a:pPr algn="l">
              <a:spcAft>
                <a:spcPts val="2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Open Sans"/>
              </a:rPr>
              <a:t>(A) Swin-T U-Net + RSP weights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native satellite pretraining for Swin, full fine-tuning.</a:t>
            </a:r>
          </a:p>
          <a:p>
            <a:pPr algn="l">
              <a:spcAft>
                <a:spcPts val="2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Open Sans"/>
              </a:rPr>
              <a:t>(B) SatMAE++ ViT-L U-Net (UNETR-like)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frozen encoder + lightweight decoder -&gt; feasible on Colab T4.</a:t>
            </a:r>
          </a:p>
          <a:p>
            <a:pPr algn="l">
              <a:spcAft>
                <a:spcPts val="0"/>
              </a:spcAft>
              <a:buNone/>
            </a:pPr>
            <a:r>
              <a:rPr sz="1600" b="0" i="1">
                <a:solidFill>
                  <a:srgbClr val="222222"/>
                </a:solidFill>
                <a:latin typeface="Open Sans"/>
              </a:rPr>
              <a:t>We cover BOTH architectures the brief asks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Architecture and training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7863840" cy="493776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7223760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900" b="1" i="0">
                <a:solidFill>
                  <a:srgbClr val="6F0A19"/>
                </a:solidFill>
                <a:latin typeface="Open Sans"/>
              </a:rPr>
              <a:t>(A) Swin-T U-Net + RSP</a:t>
            </a:r>
          </a:p>
          <a:p>
            <a:pPr algn="l">
              <a:spcAft>
                <a:spcPts val="8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Swin-Tiny backbone (segmentation-models-pytorch + timm).</a:t>
            </a:r>
          </a:p>
          <a:p>
            <a:pPr algn="l">
              <a:spcAft>
                <a:spcPts val="8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RSP weights (pretraining on MillionAID).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Full fine-tuning, with encoder warmup.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1920240"/>
            <a:ext cx="8229600" cy="493776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0" y="2194560"/>
            <a:ext cx="7589520" cy="4480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900" b="1" i="0">
                <a:solidFill>
                  <a:srgbClr val="6F0A19"/>
                </a:solidFill>
                <a:latin typeface="Open Sans"/>
              </a:rPr>
              <a:t>(B) SatMAE++ ViT-L (frozen)</a:t>
            </a:r>
          </a:p>
          <a:p>
            <a:pPr algn="l">
              <a:spcAft>
                <a:spcPts val="8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ViT-L fMoW-RGB encoder FROZEN (linear probing).</a:t>
            </a:r>
          </a:p>
          <a:p>
            <a:pPr algn="l">
              <a:spcAft>
                <a:spcPts val="80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Lightweight convolutional decoder (progressive upsampling).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300M params but no backprop in the encoder -&gt; runs in minutes on T4.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23760"/>
            <a:ext cx="164592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Open Sans"/>
              </a:rPr>
              <a:t>Common choices (for a fair comparison)</a:t>
            </a:r>
          </a:p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222222"/>
                </a:solidFill>
                <a:latin typeface="Open Sans"/>
              </a:rPr>
              <a:t>Loss: </a:t>
            </a:r>
            <a:r>
              <a:rPr sz="1600" b="0" i="0">
                <a:solidFill>
                  <a:srgbClr val="222222"/>
                </a:solidFill>
                <a:latin typeface="Open Sans"/>
              </a:rPr>
              <a:t>CrossEntropy + Dice, with ignore_index on LoveDA 'no-data'.   </a:t>
            </a:r>
            <a:r>
              <a:rPr sz="1600" b="1" i="0">
                <a:solidFill>
                  <a:srgbClr val="222222"/>
                </a:solidFill>
                <a:latin typeface="Open Sans"/>
              </a:rPr>
              <a:t>Class-weighting: </a:t>
            </a:r>
            <a:r>
              <a:rPr sz="1600" b="0" i="0">
                <a:solidFill>
                  <a:srgbClr val="222222"/>
                </a:solidFill>
                <a:latin typeface="Open Sans"/>
              </a:rPr>
              <a:t>median-frequency on rare classes (road, water).   </a:t>
            </a:r>
            <a:r>
              <a:rPr sz="1600" b="1" i="0">
                <a:solidFill>
                  <a:srgbClr val="222222"/>
                </a:solidFill>
                <a:latin typeface="Open Sans"/>
              </a:rPr>
              <a:t>Data-scarce: </a:t>
            </a:r>
            <a:r>
              <a:rPr sz="1600" b="0" i="0">
                <a:solidFill>
                  <a:srgbClr val="222222"/>
                </a:solidFill>
                <a:latin typeface="Open Sans"/>
              </a:rPr>
              <a:t>subsets of 100 / 300 / 600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Does pretraining help? Yes, a 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6459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0" i="0">
                <a:solidFill>
                  <a:srgbClr val="222222"/>
                </a:solidFill>
                <a:latin typeface="Open Sans"/>
              </a:rPr>
              <a:t>Data-scarce ablation on LoveDA (n=300 images, mIoU - same pipeline):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5120640" cy="320040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4754880" cy="2926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2200" b="1" i="0">
                <a:solidFill>
                  <a:srgbClr val="6F0A19"/>
                </a:solidFill>
                <a:latin typeface="Open Sans"/>
              </a:rPr>
              <a:t>Scratch</a:t>
            </a:r>
          </a:p>
          <a:p>
            <a:pPr algn="ctr">
              <a:spcAft>
                <a:spcPts val="200"/>
              </a:spcAft>
              <a:buNone/>
            </a:pPr>
            <a:r>
              <a:rPr sz="6600" b="1" i="0">
                <a:solidFill>
                  <a:srgbClr val="6B6B6B"/>
                </a:solidFill>
                <a:latin typeface="Open Sans"/>
              </a:rPr>
              <a:t>0.09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Swin random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(no pretraining)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788920"/>
            <a:ext cx="4754880" cy="2926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2200" b="1" i="0">
                <a:solidFill>
                  <a:srgbClr val="6F0A19"/>
                </a:solidFill>
                <a:latin typeface="Open Sans"/>
              </a:rPr>
              <a:t>RSP</a:t>
            </a:r>
          </a:p>
          <a:p>
            <a:pPr algn="ctr">
              <a:spcAft>
                <a:spcPts val="200"/>
              </a:spcAft>
              <a:buNone/>
            </a:pPr>
            <a:r>
              <a:rPr sz="6600" b="1" i="0">
                <a:solidFill>
                  <a:srgbClr val="1F497D"/>
                </a:solidFill>
                <a:latin typeface="Open Sans"/>
              </a:rPr>
              <a:t>0.25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Swin + satellite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weights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0" y="2651760"/>
            <a:ext cx="5120640" cy="320040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0" y="2788920"/>
            <a:ext cx="4754880" cy="2926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2200" b="1" i="0">
                <a:solidFill>
                  <a:srgbClr val="6F0A19"/>
                </a:solidFill>
                <a:latin typeface="Open Sans"/>
              </a:rPr>
              <a:t>SatMAE++</a:t>
            </a:r>
          </a:p>
          <a:p>
            <a:pPr algn="ctr">
              <a:spcAft>
                <a:spcPts val="200"/>
              </a:spcAft>
              <a:buNone/>
            </a:pPr>
            <a:r>
              <a:rPr sz="6600" b="1" i="0">
                <a:solidFill>
                  <a:srgbClr val="2E7D32"/>
                </a:solidFill>
                <a:latin typeface="Open Sans"/>
              </a:rPr>
              <a:t>0.31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ViT-L frozen</a:t>
            </a:r>
          </a:p>
          <a:p>
            <a:pPr algn="ctr">
              <a:spcAft>
                <a:spcPts val="0"/>
              </a:spcAft>
              <a:buNone/>
            </a:pPr>
            <a:r>
              <a:rPr sz="1500" b="0" i="0">
                <a:solidFill>
                  <a:srgbClr val="222222"/>
                </a:solidFill>
                <a:latin typeface="Open Sans"/>
              </a:rPr>
              <a:t>(linear probing)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64592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Font typeface="Arial"/>
              <a:buChar char="-"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Key insight: </a:t>
            </a:r>
            <a:r>
              <a:rPr sz="1800" b="0" i="0">
                <a:solidFill>
                  <a:srgbClr val="6F0A19"/>
                </a:solidFill>
                <a:latin typeface="Open Sans"/>
              </a:rPr>
              <a:t>a FROZEN ViT-L beats the fine-tuned Swin -&gt; SatMAE++ features are so strong they suffice on their own.</a:t>
            </a:r>
          </a:p>
          <a:p>
            <a:pPr algn="l">
              <a:spcAft>
                <a:spcPts val="1200"/>
              </a:spcAft>
              <a:buFont typeface="Arial"/>
              <a:buChar char="-"/>
            </a:pPr>
            <a:r>
              <a:rPr sz="1800" b="1" i="0">
                <a:solidFill>
                  <a:srgbClr val="222222"/>
                </a:solidFill>
                <a:latin typeface="Open Sans"/>
              </a:rPr>
              <a:t>Class-weighting: </a:t>
            </a:r>
            <a:r>
              <a:rPr sz="1800" b="0" i="0">
                <a:solidFill>
                  <a:srgbClr val="222222"/>
                </a:solidFill>
                <a:latin typeface="Open Sans"/>
              </a:rPr>
              <a:t>+~0.07 mIoU, recovering rare classes (road, water go from ~0 to a useful IoU).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800" b="1" i="0">
                <a:solidFill>
                  <a:srgbClr val="222222"/>
                </a:solidFill>
                <a:latin typeface="Open Sans"/>
              </a:rPr>
              <a:t>Confirmed ordering: </a:t>
            </a:r>
            <a:r>
              <a:rPr sz="1800" b="0" i="0">
                <a:solidFill>
                  <a:srgbClr val="222222"/>
                </a:solidFill>
                <a:latin typeface="Open Sans"/>
              </a:rPr>
              <a:t>SatMAE++ &gt; RSP &gt; scratch, consistently.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Input optimization: GSD vs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6459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0" i="0">
                <a:solidFill>
                  <a:srgbClr val="222222"/>
                </a:solidFill>
                <a:latin typeface="Open Sans"/>
              </a:rPr>
              <a:t>Images are 1024x1024 but the model wants 224x224. How do we get there?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5120640" cy="420624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926080"/>
            <a:ext cx="466344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Resize 1024-&gt;224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Whole scene but detail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destroyed (high freq. lost).</a:t>
            </a:r>
          </a:p>
          <a:p>
            <a:pPr algn="l">
              <a:spcAft>
                <a:spcPts val="200"/>
              </a:spcAft>
              <a:buNone/>
            </a:pPr>
            <a:r>
              <a:rPr sz="600" b="0" i="0">
                <a:solidFill>
                  <a:srgbClr val="222222"/>
                </a:solidFill>
                <a:latin typeface="Open Sans"/>
              </a:rPr>
              <a:t/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100% area</a:t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~4.5x downscale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5120640" cy="420624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926080"/>
            <a:ext cx="466344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Native crop 224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Maximum sharpness but sees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only a small portion.</a:t>
            </a:r>
          </a:p>
          <a:p>
            <a:pPr algn="l">
              <a:spcAft>
                <a:spcPts val="200"/>
              </a:spcAft>
              <a:buNone/>
            </a:pPr>
            <a:r>
              <a:rPr sz="600" b="0" i="0">
                <a:solidFill>
                  <a:srgbClr val="222222"/>
                </a:solidFill>
                <a:latin typeface="Open Sans"/>
              </a:rPr>
              <a:t/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~5% area</a:t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native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0" y="2743200"/>
            <a:ext cx="5120640" cy="4206240"/>
          </a:xfrm>
          <a:prstGeom prst="rect">
            <a:avLst/>
          </a:prstGeom>
          <a:solidFill>
            <a:srgbClr val="EC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15800" y="2926080"/>
            <a:ext cx="466344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Hybrid: resize 512 + crop 224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Compromise: good detail</a:t>
            </a:r>
          </a:p>
          <a:p>
            <a:pPr algn="l">
              <a:spcAft>
                <a:spcPts val="200"/>
              </a:spcAft>
              <a:buNone/>
            </a:pPr>
            <a:r>
              <a:rPr sz="1600" b="0" i="0">
                <a:solidFill>
                  <a:srgbClr val="222222"/>
                </a:solidFill>
                <a:latin typeface="Open Sans"/>
              </a:rPr>
              <a:t>AND some context.</a:t>
            </a:r>
          </a:p>
          <a:p>
            <a:pPr algn="l">
              <a:spcAft>
                <a:spcPts val="200"/>
              </a:spcAft>
              <a:buNone/>
            </a:pPr>
            <a:r>
              <a:rPr sz="600" b="0" i="0">
                <a:solidFill>
                  <a:srgbClr val="222222"/>
                </a:solidFill>
                <a:latin typeface="Open Sans"/>
              </a:rPr>
              <a:t/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~20% area</a:t>
            </a:r>
          </a:p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Open Sans"/>
              </a:rPr>
              <a:t>half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315200"/>
            <a:ext cx="164592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 i="1">
                <a:solidFill>
                  <a:srgbClr val="6B6B6B"/>
                </a:solidFill>
                <a:latin typeface="Open Sans"/>
              </a:rPr>
              <a:t>Status: </a:t>
            </a:r>
            <a:r>
              <a:rPr sz="1700" b="0" i="1">
                <a:solidFill>
                  <a:srgbClr val="6B6B6B"/>
                </a:solidFill>
                <a:latin typeface="Open Sans"/>
              </a:rPr>
              <a:t>resize / crop / hybrid comparison still IN PROGRESS - we decide from per-class mIoU (thin classes like road/building should benefit from native detail).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Extension: wavelet strategies - a negative,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772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Font typeface="Arial"/>
              <a:buChar char="-"/>
            </a:pPr>
            <a:r>
              <a:rPr sz="1800" b="1" i="0">
                <a:solidFill>
                  <a:srgbClr val="222222"/>
                </a:solidFill>
                <a:latin typeface="Open Sans"/>
              </a:rPr>
              <a:t>Idea (ISPAMM): </a:t>
            </a:r>
            <a:r>
              <a:rPr sz="1800" b="0" i="0">
                <a:solidFill>
                  <a:srgbClr val="222222"/>
                </a:solidFill>
                <a:latin typeface="Open Sans"/>
              </a:rPr>
              <a:t>use the Discrete Wavelet Transform to inject high frequencies (edges) and sharpen boundaries.</a:t>
            </a:r>
          </a:p>
          <a:p>
            <a:pPr algn="l">
              <a:spcAft>
                <a:spcPts val="1200"/>
              </a:spcAft>
              <a:buFont typeface="Arial"/>
              <a:buChar char="-"/>
            </a:pPr>
            <a:r>
              <a:rPr sz="1800" b="1" i="0">
                <a:solidFill>
                  <a:srgbClr val="222222"/>
                </a:solidFill>
                <a:latin typeface="Open Sans"/>
              </a:rPr>
              <a:t>What we tested: </a:t>
            </a:r>
            <a:r>
              <a:rPr sz="1800" b="0" i="0">
                <a:solidFill>
                  <a:srgbClr val="222222"/>
                </a:solidFill>
                <a:latin typeface="Open Sans"/>
              </a:rPr>
              <a:t>wavelet as input augmentation AND decoder injection; on Swin and ViT; scratch and pretrained; n=100/300/600.</a:t>
            </a:r>
          </a:p>
          <a:p>
            <a:pPr algn="l">
              <a:spcAft>
                <a:spcPts val="1200"/>
              </a:spcAft>
              <a:buFont typeface="Arial"/>
              <a:buChar char="-"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Outcome: </a:t>
            </a:r>
            <a:r>
              <a:rPr sz="1800" b="0" i="0">
                <a:solidFill>
                  <a:srgbClr val="6F0A19"/>
                </a:solidFill>
                <a:latin typeface="Open Sans"/>
              </a:rPr>
              <a:t>NEUTRAL everywhere (differences within ~0.02 noise).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800" b="1" i="0">
                <a:solidFill>
                  <a:srgbClr val="222222"/>
                </a:solidFill>
                <a:latin typeface="Open Sans"/>
              </a:rPr>
              <a:t>Why: </a:t>
            </a:r>
            <a:r>
              <a:rPr sz="1800" b="0" i="0">
                <a:solidFill>
                  <a:srgbClr val="222222"/>
                </a:solidFill>
                <a:latin typeface="Open Sans"/>
              </a:rPr>
              <a:t>wavelets provide EDGES, but the bottleneck here is SEMANTICS. The literature uses wavelets where frequency matters (super-resolution, restoration, long-sequence), not in semantic segmentation.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0" y="2011680"/>
            <a:ext cx="5943600" cy="5669280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95760" y="2286000"/>
            <a:ext cx="5303520" cy="5120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800" b="1" i="0">
                <a:solidFill>
                  <a:srgbClr val="6F0A19"/>
                </a:solidFill>
                <a:latin typeface="Open Sans"/>
              </a:rPr>
              <a:t>Critical thinking</a:t>
            </a:r>
          </a:p>
          <a:p>
            <a:pPr algn="l">
              <a:spcAft>
                <a:spcPts val="1000"/>
              </a:spcAft>
              <a:buNone/>
            </a:pPr>
            <a:r>
              <a:rPr sz="1800" b="0" i="1">
                <a:solidFill>
                  <a:srgbClr val="222222"/>
                </a:solidFill>
                <a:latin typeface="Open Sans"/>
              </a:rPr>
              <a:t>A negative result, obtained with 6+ controlled experiments and explained mechanistically, is a scientific result - not a failure.</a:t>
            </a:r>
          </a:p>
          <a:p>
            <a:pPr algn="l">
              <a:spcAft>
                <a:spcPts val="0"/>
              </a:spcAft>
              <a:buNone/>
            </a:pPr>
            <a:r>
              <a:rPr sz="1700" b="0" i="0">
                <a:solidFill>
                  <a:srgbClr val="1F497D"/>
                </a:solidFill>
                <a:latin typeface="Open Sans"/>
              </a:rPr>
              <a:t>It even reinforces the thesis: SatMAE++ pretraining already captures what wavelets would add.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6F0A19"/>
                </a:solidFill>
                <a:latin typeface="Open Sans"/>
              </a:rPr>
              <a:t>Open questions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6459200" cy="7315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[deciding] Final input mode: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full resize vs hybrid 512+crop - based on per-class results.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[deciding] Partial fine-tuning of the ViT: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unfreeze the last SatMAE++ blocks vs keep it frozen.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Stage 2 - Multispectral: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SatMAE++ fMoW-Sentinel (11 bands) on Sentinel-2 data -&gt; the brief's "multi-spectral inputs" option.</a:t>
            </a:r>
          </a:p>
          <a:p>
            <a:pPr algn="l">
              <a:spcAft>
                <a:spcPts val="140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SAM / SAMRS as annotator: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generate pseudo-labels on unlabeled images to enlarge the training set (semi-supervised).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1900" b="1" i="0">
                <a:solidFill>
                  <a:srgbClr val="222222"/>
                </a:solidFill>
                <a:latin typeface="Open Sans"/>
              </a:rPr>
              <a:t>Wavelets 'in the positive': </a:t>
            </a:r>
            <a:r>
              <a:rPr sz="1900" b="0" i="0">
                <a:solidFill>
                  <a:srgbClr val="222222"/>
                </a:solidFill>
                <a:latin typeface="Open Sans"/>
              </a:rPr>
              <a:t>test on an edge-dominated dataset (building/road extraction), where frequency truly is the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6642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Open Sans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6459200" cy="7315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600"/>
              </a:spcAft>
              <a:buFont typeface="Arial"/>
              <a:buChar char="-"/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Satellite pretraining markedly improves data-scarce segmentation: </a:t>
            </a:r>
            <a:r>
              <a:rPr sz="2000" b="0" i="0">
                <a:solidFill>
                  <a:srgbClr val="FFFFFF"/>
                </a:solidFill>
                <a:latin typeface="Open Sans"/>
              </a:rPr>
              <a:t>mIoU 0.09 -&gt; 0.31 at equal data.</a:t>
            </a:r>
          </a:p>
          <a:p>
            <a:pPr algn="l">
              <a:spcAft>
                <a:spcPts val="1600"/>
              </a:spcAft>
              <a:buFont typeface="Arial"/>
              <a:buChar char="-"/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Frozen SatMAE++ = best performance / compute trade-off </a:t>
            </a:r>
            <a:r>
              <a:rPr sz="2000" b="0" i="0">
                <a:solidFill>
                  <a:srgbClr val="FFFFFF"/>
                </a:solidFill>
                <a:latin typeface="Open Sans"/>
              </a:rPr>
              <a:t>on Colab.</a:t>
            </a:r>
          </a:p>
          <a:p>
            <a:pPr algn="l">
              <a:spcAft>
                <a:spcPts val="1600"/>
              </a:spcAft>
              <a:buFont typeface="Arial"/>
              <a:buChar char="-"/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Wavelets do not help semantic segmentation </a:t>
            </a:r>
            <a:r>
              <a:rPr sz="2000" b="0" i="0">
                <a:solidFill>
                  <a:srgbClr val="FFFFFF"/>
                </a:solidFill>
                <a:latin typeface="Open Sans"/>
              </a:rPr>
              <a:t>(explained negative): critical thinking, not a missing feature.</a:t>
            </a:r>
          </a:p>
          <a:p>
            <a:pPr algn="l">
              <a:spcAft>
                <a:spcPts val="0"/>
              </a:spcAft>
              <a:buFont typeface="Arial"/>
              <a:buChar char="-"/>
            </a:pPr>
            <a:r>
              <a:rPr sz="2000" b="1" i="0">
                <a:solidFill>
                  <a:srgbClr val="F0D8D8"/>
                </a:solidFill>
                <a:latin typeface="Open Sans"/>
              </a:rPr>
              <a:t>Next steps: </a:t>
            </a:r>
            <a:r>
              <a:rPr sz="2000" b="0" i="0">
                <a:solidFill>
                  <a:srgbClr val="F0D8D8"/>
                </a:solidFill>
                <a:latin typeface="Open Sans"/>
              </a:rPr>
              <a:t>multispectral input (Sentinel-2) and SAM pseudo-labels.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DAHBIejPfWg</dc:identifier>
  <dcterms:modified xsi:type="dcterms:W3CDTF">2011-08-01T06:04:30Z</dcterms:modified>
  <cp:revision>1</cp:revision>
  <dc:title>UNDERACTUATED ROBOTs</dc:title>
</cp:coreProperties>
</file>